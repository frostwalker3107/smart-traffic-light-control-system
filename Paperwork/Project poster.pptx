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pos="3840" userDrawn="1">
          <p15:clr>
            <a:srgbClr val="9AA0A6"/>
          </p15:clr>
        </p15:guide>
        <p15:guide id="2" orient="horz"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5" d="100"/>
          <a:sy n="65" d="100"/>
        </p:scale>
        <p:origin x="918" y="72"/>
      </p:cViewPr>
      <p:guideLst>
        <p:guide pos="3840"/>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4" name="Google Shape;24;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6" name="Google Shape;36;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7" name="Google Shape;3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3" name="Google Shape;43;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4" name="Google Shape;44;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5" name="Google Shape;45;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A picture containing logo&#10;&#10;Description automatically generated"/>
          <p:cNvPicPr preferRelativeResize="0"/>
          <p:nvPr/>
        </p:nvPicPr>
        <p:blipFill rotWithShape="1">
          <a:blip r:embed="rId1"/>
          <a:srcRect/>
          <a:stretch>
            <a:fillRect/>
          </a:stretch>
        </p:blipFill>
        <p:spPr>
          <a:xfrm>
            <a:off x="153573" y="81285"/>
            <a:ext cx="2920931" cy="1354217"/>
          </a:xfrm>
          <a:prstGeom prst="rect">
            <a:avLst/>
          </a:prstGeom>
          <a:noFill/>
          <a:ln>
            <a:noFill/>
          </a:ln>
        </p:spPr>
      </p:pic>
      <p:sp>
        <p:nvSpPr>
          <p:cNvPr id="85" name="Google Shape;85;p13"/>
          <p:cNvSpPr txBox="1"/>
          <p:nvPr/>
        </p:nvSpPr>
        <p:spPr>
          <a:xfrm>
            <a:off x="3074503" y="829023"/>
            <a:ext cx="9030900" cy="1275080"/>
          </a:xfrm>
          <a:prstGeom prst="rect">
            <a:avLst/>
          </a:prstGeom>
          <a:solidFill>
            <a:srgbClr val="2F5496"/>
          </a:solidFill>
          <a:ln>
            <a:noFill/>
          </a:ln>
        </p:spPr>
        <p:txBody>
          <a:bodyPr spcFirstLastPara="1" wrap="square" lIns="91425" tIns="45700" rIns="0" bIns="45700" anchor="t" anchorCtr="0">
            <a:spAutoFit/>
          </a:bodyPr>
          <a:lstStyle/>
          <a:p>
            <a:pPr marL="0" marR="0" lvl="0" indent="0" algn="ctr" rtl="0">
              <a:lnSpc>
                <a:spcPct val="100000"/>
              </a:lnSpc>
              <a:spcBef>
                <a:spcPts val="0"/>
              </a:spcBef>
              <a:spcAft>
                <a:spcPts val="0"/>
              </a:spcAft>
              <a:buNone/>
            </a:pPr>
            <a:r>
              <a:rPr lang="en-US" sz="1800" b="0" i="0" u="none" strike="noStrike" cap="none">
                <a:solidFill>
                  <a:schemeClr val="lt1"/>
                </a:solidFill>
                <a:latin typeface="Century" panose="02040604050505020304"/>
                <a:ea typeface="Century" panose="02040604050505020304"/>
                <a:cs typeface="Century" panose="02040604050505020304"/>
                <a:sym typeface="Century" panose="02040604050505020304"/>
              </a:rPr>
              <a:t>DEPARTMENT OF COMPUTER SCIENCE &amp; ENGINEERING</a:t>
            </a:r>
            <a:endParaRPr sz="1800" b="0" i="0" u="none" strike="noStrike" cap="none">
              <a:solidFill>
                <a:schemeClr val="lt1"/>
              </a:solidFill>
              <a:latin typeface="Century" panose="02040604050505020304"/>
              <a:ea typeface="Century" panose="02040604050505020304"/>
              <a:cs typeface="Century" panose="02040604050505020304"/>
              <a:sym typeface="Century" panose="02040604050505020304"/>
            </a:endParaRPr>
          </a:p>
          <a:p>
            <a:pPr marL="0" marR="0" lvl="0" indent="0" algn="ctr" rtl="0">
              <a:lnSpc>
                <a:spcPct val="100000"/>
              </a:lnSpc>
              <a:spcBef>
                <a:spcPts val="0"/>
              </a:spcBef>
              <a:spcAft>
                <a:spcPts val="0"/>
              </a:spcAft>
              <a:buClr>
                <a:srgbClr val="000000"/>
              </a:buClr>
              <a:buSzPts val="2800"/>
              <a:buFont typeface="Arial" panose="020B0604020202020204"/>
              <a:buNone/>
            </a:pPr>
            <a:r>
              <a:rPr lang="en-US" sz="2800" b="1" i="1">
                <a:solidFill>
                  <a:schemeClr val="lt1"/>
                </a:solidFill>
                <a:latin typeface="Calibri" panose="020F0502020204030204"/>
                <a:ea typeface="Calibri" panose="020F0502020204030204"/>
                <a:cs typeface="Calibri" panose="020F0502020204030204"/>
                <a:sym typeface="Calibri" panose="020F0502020204030204"/>
              </a:rPr>
              <a:t>Smart Traffic Light Control System</a:t>
            </a:r>
            <a:endParaRPr lang="en-US" sz="2800" b="1" i="1">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100000"/>
              </a:lnSpc>
              <a:spcBef>
                <a:spcPts val="0"/>
              </a:spcBef>
              <a:spcAft>
                <a:spcPts val="0"/>
              </a:spcAft>
              <a:buClr>
                <a:srgbClr val="000000"/>
              </a:buClr>
              <a:buSzPts val="2800"/>
              <a:buFont typeface="Arial" panose="020B0604020202020204"/>
              <a:buNone/>
            </a:pPr>
            <a:r>
              <a:rPr lang="en-US" sz="1300" b="1">
                <a:solidFill>
                  <a:schemeClr val="lt1"/>
                </a:solidFill>
                <a:latin typeface="Calibri" panose="020F0502020204030204"/>
                <a:ea typeface="Calibri" panose="020F0502020204030204"/>
                <a:cs typeface="Calibri" panose="020F0502020204030204"/>
                <a:sym typeface="Calibri" panose="020F0502020204030204"/>
              </a:rPr>
              <a:t>AI based methodology to control traffic lights as per real-time traffic</a:t>
            </a:r>
            <a:endParaRPr sz="1300" b="1">
              <a:solidFill>
                <a:schemeClr val="lt1"/>
              </a:solidFill>
              <a:latin typeface="Calibri" panose="020F0502020204030204"/>
              <a:ea typeface="Calibri" panose="020F0502020204030204"/>
              <a:cs typeface="Calibri" panose="020F0502020204030204"/>
              <a:sym typeface="Calibri" panose="020F0502020204030204"/>
            </a:endParaRPr>
          </a:p>
          <a:p>
            <a:pPr marL="0" marR="0" lvl="0" indent="0" algn="ctr" rtl="0">
              <a:lnSpc>
                <a:spcPct val="100000"/>
              </a:lnSpc>
              <a:spcBef>
                <a:spcPts val="0"/>
              </a:spcBef>
              <a:spcAft>
                <a:spcPts val="0"/>
              </a:spcAft>
              <a:buNone/>
            </a:pPr>
            <a:r>
              <a:rPr lang="en-US" sz="1800">
                <a:solidFill>
                  <a:schemeClr val="lt1"/>
                </a:solidFill>
                <a:latin typeface="Calibri" panose="020F0502020204030204"/>
                <a:ea typeface="Calibri" panose="020F0502020204030204"/>
                <a:cs typeface="Calibri" panose="020F0502020204030204"/>
                <a:sym typeface="Calibri" panose="020F0502020204030204"/>
              </a:rPr>
              <a:t>Arnav Sohani, Ishan Gaikwad, Omkar Lonkar, Samiksha Roy</a:t>
            </a:r>
            <a:endParaRPr lang="en-US" sz="1800">
              <a:solidFill>
                <a:schemeClr val="lt1"/>
              </a:solidFill>
              <a:latin typeface="Calibri" panose="020F0502020204030204"/>
              <a:ea typeface="Calibri" panose="020F0502020204030204"/>
              <a:cs typeface="Calibri" panose="020F0502020204030204"/>
              <a:sym typeface="Calibri" panose="020F0502020204030204"/>
            </a:endParaRPr>
          </a:p>
        </p:txBody>
      </p:sp>
      <p:sp>
        <p:nvSpPr>
          <p:cNvPr id="86" name="Google Shape;86;p13"/>
          <p:cNvSpPr txBox="1"/>
          <p:nvPr/>
        </p:nvSpPr>
        <p:spPr>
          <a:xfrm>
            <a:off x="153573" y="1435502"/>
            <a:ext cx="2869500" cy="659130"/>
          </a:xfrm>
          <a:prstGeom prst="rect">
            <a:avLst/>
          </a:prstGeom>
          <a:solidFill>
            <a:srgbClr val="FEE59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Faculty Guide:</a:t>
            </a:r>
            <a:endParaRPr lang="en-US"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50000"/>
              </a:lnSpc>
              <a:spcBef>
                <a:spcPts val="0"/>
              </a:spcBef>
              <a:spcAft>
                <a:spcPts val="0"/>
              </a:spcAft>
              <a:buClr>
                <a:srgbClr val="000000"/>
              </a:buClr>
              <a:buSzPts val="1600"/>
              <a:buFont typeface="Arial" panose="020B0604020202020204"/>
              <a:buNone/>
            </a:pPr>
            <a:r>
              <a:rPr lang="en-US" b="1">
                <a:solidFill>
                  <a:schemeClr val="dk1"/>
                </a:solidFill>
                <a:latin typeface="Calibri" panose="020F0502020204030204"/>
                <a:ea typeface="Calibri" panose="020F0502020204030204"/>
                <a:cs typeface="Calibri" panose="020F0502020204030204"/>
                <a:sym typeface="Calibri" panose="020F0502020204030204"/>
              </a:rPr>
              <a:t>Prof. Vaibhav Sawalkar</a:t>
            </a:r>
            <a:endParaRPr lang="en-US" b="1">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7" name="Google Shape;87;p13"/>
          <p:cNvSpPr txBox="1"/>
          <p:nvPr/>
        </p:nvSpPr>
        <p:spPr>
          <a:xfrm>
            <a:off x="13013334" y="-393524"/>
            <a:ext cx="4927697" cy="6155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Proposed Architecture/ Diagram:</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8" name="Google Shape;88;p13"/>
          <p:cNvSpPr txBox="1"/>
          <p:nvPr/>
        </p:nvSpPr>
        <p:spPr>
          <a:xfrm>
            <a:off x="3074504" y="170085"/>
            <a:ext cx="7420624" cy="584775"/>
          </a:xfrm>
          <a:prstGeom prst="rect">
            <a:avLst/>
          </a:prstGeom>
          <a:solidFill>
            <a:srgbClr val="B3C6E7"/>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0" i="0" u="none" strike="noStrike" cap="none">
                <a:solidFill>
                  <a:srgbClr val="323F4F"/>
                </a:solidFill>
                <a:latin typeface="Century" panose="02040604050505020304"/>
                <a:ea typeface="Century" panose="02040604050505020304"/>
                <a:cs typeface="Century" panose="02040604050505020304"/>
                <a:sym typeface="Century" panose="02040604050505020304"/>
              </a:rPr>
              <a:t>MIT SCHOOL OF COMPUTING </a:t>
            </a:r>
            <a:endParaRPr sz="3200" b="0" i="0" u="none" strike="noStrike" cap="none">
              <a:solidFill>
                <a:srgbClr val="323F4F"/>
              </a:solidFill>
              <a:latin typeface="Century" panose="02040604050505020304"/>
              <a:ea typeface="Century" panose="02040604050505020304"/>
              <a:cs typeface="Century" panose="02040604050505020304"/>
              <a:sym typeface="Century" panose="02040604050505020304"/>
            </a:endParaRPr>
          </a:p>
        </p:txBody>
      </p:sp>
      <p:sp>
        <p:nvSpPr>
          <p:cNvPr id="89" name="Google Shape;89;p13"/>
          <p:cNvSpPr txBox="1"/>
          <p:nvPr/>
        </p:nvSpPr>
        <p:spPr>
          <a:xfrm>
            <a:off x="-3345986" y="2629235"/>
            <a:ext cx="28695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90" name="Google Shape;90;p13"/>
          <p:cNvSpPr txBox="1"/>
          <p:nvPr/>
        </p:nvSpPr>
        <p:spPr>
          <a:xfrm>
            <a:off x="139700" y="5274310"/>
            <a:ext cx="3506470" cy="149796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500" b="1" i="0" u="none" strike="noStrike" cap="none" dirty="0">
                <a:solidFill>
                  <a:schemeClr val="dk1"/>
                </a:solidFill>
              </a:rPr>
              <a:t>Problem </a:t>
            </a:r>
            <a:r>
              <a:rPr lang="en-US" sz="1500" b="1" dirty="0">
                <a:solidFill>
                  <a:schemeClr val="dk1"/>
                </a:solidFill>
              </a:rPr>
              <a:t>statement</a:t>
            </a:r>
            <a:endParaRPr sz="1500" b="1" dirty="0"/>
          </a:p>
          <a:p>
            <a:pPr marL="0" lvl="0" indent="0" algn="ctr" rtl="0">
              <a:lnSpc>
                <a:spcPct val="108000"/>
              </a:lnSpc>
              <a:spcBef>
                <a:spcPts val="0"/>
              </a:spcBef>
              <a:spcAft>
                <a:spcPts val="0"/>
              </a:spcAft>
              <a:buClr>
                <a:schemeClr val="dk1"/>
              </a:buClr>
              <a:buSzPts val="1100"/>
              <a:buFont typeface="Arial" panose="020B0604020202020204"/>
              <a:buNone/>
            </a:pPr>
            <a:r>
              <a:rPr lang="en-US" dirty="0">
                <a:solidFill>
                  <a:schemeClr val="dk1"/>
                </a:solidFill>
                <a:latin typeface="Arial" panose="020B0604020202020204" pitchFamily="34" charset="0"/>
                <a:ea typeface="Calibri" panose="020F0502020204030204"/>
                <a:cs typeface="Arial" panose="020B0604020202020204" pitchFamily="34" charset="0"/>
                <a:sym typeface="Calibri" panose="020F0502020204030204"/>
              </a:rPr>
              <a:t>Urban traffic congestion is often worsened by outdated traffic light systems that fail to adapt to real-time conditions, leading to inefficiencies, increased travel times, and driver frustration.</a:t>
            </a:r>
            <a:endParaRPr lang="en-US" dirty="0">
              <a:solidFill>
                <a:schemeClr val="dk1"/>
              </a:solidFill>
              <a:latin typeface="Arial" panose="020B0604020202020204" pitchFamily="34" charset="0"/>
              <a:ea typeface="Calibri" panose="020F0502020204030204"/>
              <a:cs typeface="Arial" panose="020B0604020202020204" pitchFamily="34" charset="0"/>
              <a:sym typeface="Calibri" panose="020F0502020204030204"/>
            </a:endParaRPr>
          </a:p>
        </p:txBody>
      </p:sp>
      <p:sp>
        <p:nvSpPr>
          <p:cNvPr id="91" name="Google Shape;91;p13"/>
          <p:cNvSpPr txBox="1"/>
          <p:nvPr/>
        </p:nvSpPr>
        <p:spPr>
          <a:xfrm>
            <a:off x="3646170" y="5274310"/>
            <a:ext cx="3681095" cy="1497965"/>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600" b="1" i="0" u="none" strike="noStrike" cap="none" dirty="0">
                <a:solidFill>
                  <a:schemeClr val="dk1"/>
                </a:solidFill>
              </a:rPr>
              <a:t>Proposed Solution</a:t>
            </a:r>
            <a:endParaRPr sz="1600" b="1" i="0" u="none" strike="noStrike" cap="none" dirty="0">
              <a:solidFill>
                <a:schemeClr val="dk1"/>
              </a:solidFill>
            </a:endParaRPr>
          </a:p>
          <a:p>
            <a:pPr marL="0" marR="0" lvl="0" indent="0" algn="ctr" rtl="0">
              <a:lnSpc>
                <a:spcPct val="100000"/>
              </a:lnSpc>
              <a:spcBef>
                <a:spcPts val="0"/>
              </a:spcBef>
              <a:spcAft>
                <a:spcPts val="0"/>
              </a:spcAft>
              <a:buNone/>
            </a:pPr>
            <a:r>
              <a:rPr lang="en-US" dirty="0">
                <a:solidFill>
                  <a:schemeClr val="dk1"/>
                </a:solidFill>
              </a:rPr>
              <a:t>Develop an AI-based trfffic light control system that uses real-time data from various sources such as cameras, sensors, and GPS data to optimize signal timings, reduce congestions and improve traffic flow.</a:t>
            </a:r>
            <a:endParaRPr lang="en-US" dirty="0">
              <a:solidFill>
                <a:schemeClr val="dk1"/>
              </a:solidFill>
            </a:endParaRPr>
          </a:p>
        </p:txBody>
      </p:sp>
      <p:sp>
        <p:nvSpPr>
          <p:cNvPr id="92" name="Google Shape;92;p13"/>
          <p:cNvSpPr txBox="1"/>
          <p:nvPr/>
        </p:nvSpPr>
        <p:spPr>
          <a:xfrm>
            <a:off x="7327265" y="5274945"/>
            <a:ext cx="4709795" cy="1497330"/>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600" b="1" i="0" u="none" strike="noStrike" cap="none" dirty="0">
                <a:solidFill>
                  <a:schemeClr val="dk1"/>
                </a:solidFill>
              </a:rPr>
              <a:t>Scope and Feasibility</a:t>
            </a:r>
            <a:endParaRPr sz="1600" b="1" dirty="0"/>
          </a:p>
          <a:p>
            <a:pPr marL="0" marR="0" lvl="0" indent="0" algn="ctr" rtl="0">
              <a:lnSpc>
                <a:spcPct val="100000"/>
              </a:lnSpc>
              <a:spcBef>
                <a:spcPts val="0"/>
              </a:spcBef>
              <a:spcAft>
                <a:spcPts val="0"/>
              </a:spcAft>
              <a:buNone/>
            </a:pPr>
            <a:r>
              <a:rPr lang="en-US" dirty="0">
                <a:solidFill>
                  <a:schemeClr val="dk1"/>
                </a:solidFill>
              </a:rPr>
              <a:t>The system can integrate with existing infrastructure, scale to different city sizes, and enhance future smart city technologies. Initial implementation requires significant investment in data collection and AI training but could greatly reduce congestion and improve urban mobility.</a:t>
            </a:r>
            <a:endParaRPr lang="en-US" dirty="0">
              <a:solidFill>
                <a:schemeClr val="dk1"/>
              </a:solidFill>
            </a:endParaRPr>
          </a:p>
        </p:txBody>
      </p:sp>
      <p:sp>
        <p:nvSpPr>
          <p:cNvPr id="93" name="Google Shape;93;p13"/>
          <p:cNvSpPr txBox="1"/>
          <p:nvPr/>
        </p:nvSpPr>
        <p:spPr>
          <a:xfrm>
            <a:off x="10565338" y="180102"/>
            <a:ext cx="1556400" cy="582295"/>
          </a:xfrm>
          <a:prstGeom prst="rect">
            <a:avLst/>
          </a:prstGeom>
          <a:solidFill>
            <a:srgbClr val="FEE599"/>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Class : </a:t>
            </a:r>
            <a:r>
              <a:rPr lang="en-US" sz="1600" b="1">
                <a:solidFill>
                  <a:schemeClr val="dk1"/>
                </a:solidFill>
                <a:latin typeface="Calibri" panose="020F0502020204030204"/>
                <a:ea typeface="Calibri" panose="020F0502020204030204"/>
                <a:cs typeface="Calibri" panose="020F0502020204030204"/>
                <a:sym typeface="Calibri" panose="020F0502020204030204"/>
              </a:rPr>
              <a:t>TY-AIA-2</a:t>
            </a:r>
            <a:endParaRPr lang="en-US" sz="1600" b="1">
              <a:solidFill>
                <a:schemeClr val="dk1"/>
              </a:solidFill>
              <a:latin typeface="Calibri" panose="020F0502020204030204"/>
              <a:ea typeface="Calibri" panose="020F0502020204030204"/>
              <a:cs typeface="Calibri" panose="020F0502020204030204"/>
              <a:sym typeface="Calibri" panose="020F0502020204030204"/>
            </a:endParaRPr>
          </a:p>
          <a:p>
            <a:pPr marL="0" marR="0" lvl="0" indent="0" algn="l" rtl="0">
              <a:lnSpc>
                <a:spcPct val="100000"/>
              </a:lnSpc>
              <a:spcBef>
                <a:spcPts val="0"/>
              </a:spcBef>
              <a:spcAft>
                <a:spcPts val="0"/>
              </a:spcAft>
              <a:buClr>
                <a:srgbClr val="000000"/>
              </a:buClr>
              <a:buSzPts val="1600"/>
              <a:buFont typeface="Arial" panose="020B0604020202020204"/>
              <a:buNone/>
            </a:pPr>
            <a:r>
              <a:rPr lang="en-US" sz="1600" b="1" i="0" u="none" strike="noStrike" cap="none">
                <a:solidFill>
                  <a:schemeClr val="dk1"/>
                </a:solidFill>
                <a:latin typeface="Calibri" panose="020F0502020204030204"/>
                <a:ea typeface="Calibri" panose="020F0502020204030204"/>
                <a:cs typeface="Calibri" panose="020F0502020204030204"/>
                <a:sym typeface="Calibri" panose="020F0502020204030204"/>
              </a:rPr>
              <a:t>Group Id: 12</a:t>
            </a:r>
            <a:endParaRPr lang="en-US" sz="1600" b="1"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 name="Oval 4"/>
          <p:cNvSpPr/>
          <p:nvPr/>
        </p:nvSpPr>
        <p:spPr>
          <a:xfrm>
            <a:off x="2030095" y="3284855"/>
            <a:ext cx="748665" cy="729615"/>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algn="ctr">
              <a:lnSpc>
                <a:spcPct val="107000"/>
              </a:lnSpc>
              <a:spcAft>
                <a:spcPts val="800"/>
              </a:spcAft>
            </a:pPr>
            <a:r>
              <a:rPr lang="en-US">
                <a:solidFill>
                  <a:srgbClr val="000000"/>
                </a:solidFill>
                <a:effectLst/>
                <a:latin typeface="Calibri" panose="020F0502020204030204" pitchFamily="34" charset="0"/>
                <a:ea typeface="Calibri" panose="020F0502020204030204" pitchFamily="34" charset="0"/>
              </a:rPr>
              <a:t>User</a:t>
            </a:r>
            <a:endParaRPr lang="en-US">
              <a:solidFill>
                <a:srgbClr val="000000"/>
              </a:solidFill>
              <a:effectLst/>
              <a:latin typeface="Calibri" panose="020F0502020204030204" pitchFamily="34" charset="0"/>
              <a:ea typeface="Calibri" panose="020F0502020204030204" pitchFamily="34" charset="0"/>
            </a:endParaRPr>
          </a:p>
        </p:txBody>
      </p:sp>
      <p:sp>
        <p:nvSpPr>
          <p:cNvPr id="2" name="Rectangles 1"/>
          <p:cNvSpPr/>
          <p:nvPr/>
        </p:nvSpPr>
        <p:spPr>
          <a:xfrm>
            <a:off x="132080" y="2132965"/>
            <a:ext cx="4526280" cy="3048000"/>
          </a:xfrm>
          <a:prstGeom prst="rect">
            <a:avLst/>
          </a:prstGeom>
          <a:ln>
            <a:solidFill>
              <a:schemeClr val="tx1"/>
            </a:solidFill>
          </a:ln>
        </p:spPr>
        <p:style>
          <a:lnRef idx="2">
            <a:schemeClr val="accent1"/>
          </a:lnRef>
          <a:fillRef idx="0">
            <a:srgbClr val="FFFFFF"/>
          </a:fillRef>
          <a:effectRef idx="0">
            <a:srgbClr val="FFFFFF"/>
          </a:effectRef>
          <a:fontRef idx="minor">
            <a:schemeClr val="dk1"/>
          </a:fontRef>
        </p:style>
        <p:txBody>
          <a:bodyPr rtlCol="0" anchor="ctr"/>
          <a:p>
            <a:pPr algn="ctr"/>
            <a:endParaRPr lang="en-US"/>
          </a:p>
        </p:txBody>
      </p:sp>
      <p:sp>
        <p:nvSpPr>
          <p:cNvPr id="6" name="Text Box 5"/>
          <p:cNvSpPr txBox="1"/>
          <p:nvPr/>
        </p:nvSpPr>
        <p:spPr>
          <a:xfrm>
            <a:off x="218440" y="2205355"/>
            <a:ext cx="2125980" cy="1430020"/>
          </a:xfrm>
          <a:prstGeom prst="rect">
            <a:avLst/>
          </a:prstGeom>
          <a:noFill/>
        </p:spPr>
        <p:txBody>
          <a:bodyPr wrap="square" rtlCol="0">
            <a:spAutoFit/>
          </a:bodyPr>
          <a:p>
            <a:r>
              <a:rPr lang="en-US" b="1"/>
              <a:t>What user Says:</a:t>
            </a:r>
            <a:endParaRPr lang="en-US" b="1"/>
          </a:p>
          <a:p>
            <a:endParaRPr lang="en-US" sz="1000"/>
          </a:p>
          <a:p>
            <a:pPr marL="171450" indent="-171450">
              <a:buFont typeface="Wingdings" panose="05000000000000000000" charset="0"/>
              <a:buChar char="§"/>
            </a:pPr>
            <a:r>
              <a:rPr lang="en-US" sz="900"/>
              <a:t>“Traffic lights never seem to match the real traffic flow.”</a:t>
            </a:r>
            <a:endParaRPr lang="en-US" sz="900"/>
          </a:p>
          <a:p>
            <a:pPr marL="171450" indent="-171450">
              <a:buFont typeface="Wingdings" panose="05000000000000000000" charset="0"/>
              <a:buChar char="§"/>
            </a:pPr>
            <a:r>
              <a:rPr lang="en-US" sz="900"/>
              <a:t>"Why do I have to wait at a red light when there's no traffic coming?"</a:t>
            </a:r>
            <a:endParaRPr lang="en-US" sz="900"/>
          </a:p>
          <a:p>
            <a:pPr marL="171450" indent="-171450">
              <a:buFont typeface="Wingdings" panose="05000000000000000000" charset="0"/>
              <a:buChar char="§"/>
            </a:pPr>
            <a:r>
              <a:rPr lang="en-US" sz="900"/>
              <a:t>"There has to be a better way to manage traffic."</a:t>
            </a:r>
            <a:endParaRPr lang="en-US" sz="900"/>
          </a:p>
        </p:txBody>
      </p:sp>
      <p:sp>
        <p:nvSpPr>
          <p:cNvPr id="7" name="Text Box 6"/>
          <p:cNvSpPr txBox="1"/>
          <p:nvPr/>
        </p:nvSpPr>
        <p:spPr>
          <a:xfrm>
            <a:off x="2494915" y="2195195"/>
            <a:ext cx="2122805" cy="1414780"/>
          </a:xfrm>
          <a:prstGeom prst="rect">
            <a:avLst/>
          </a:prstGeom>
          <a:noFill/>
        </p:spPr>
        <p:txBody>
          <a:bodyPr wrap="square" rtlCol="0">
            <a:spAutoFit/>
          </a:bodyPr>
          <a:p>
            <a:r>
              <a:rPr lang="en-US" b="1"/>
              <a:t>What user Thinks:</a:t>
            </a:r>
            <a:endParaRPr lang="en-US" b="1"/>
          </a:p>
          <a:p>
            <a:endParaRPr lang="en-US" sz="900"/>
          </a:p>
          <a:p>
            <a:pPr marL="171450" indent="-171450">
              <a:buFont typeface="Wingdings" panose="05000000000000000000" charset="0"/>
              <a:buChar char="§"/>
            </a:pPr>
            <a:r>
              <a:rPr lang="en-US" sz="900"/>
              <a:t>Current traffic systems are outdated and inefficient.</a:t>
            </a:r>
            <a:endParaRPr lang="en-US" sz="900"/>
          </a:p>
          <a:p>
            <a:pPr marL="171450" indent="-171450">
              <a:buFont typeface="Wingdings" panose="05000000000000000000" charset="0"/>
              <a:buChar char="§"/>
            </a:pPr>
            <a:r>
              <a:rPr lang="en-US" sz="900"/>
              <a:t>An AI-based system could really reduce congestion and save time.</a:t>
            </a:r>
            <a:endParaRPr lang="en-US" sz="900"/>
          </a:p>
          <a:p>
            <a:pPr marL="171450" indent="-171450">
              <a:buFont typeface="Wingdings" panose="05000000000000000000" charset="0"/>
              <a:buChar char="§"/>
            </a:pPr>
            <a:r>
              <a:rPr lang="en-US" sz="900"/>
              <a:t>This could improve road safety by reducing accidents caused by erratic traffic flow.</a:t>
            </a:r>
            <a:endParaRPr lang="en-US" sz="900"/>
          </a:p>
        </p:txBody>
      </p:sp>
      <p:cxnSp>
        <p:nvCxnSpPr>
          <p:cNvPr id="11" name="Straight Connector 10"/>
          <p:cNvCxnSpPr>
            <a:endCxn id="2" idx="3"/>
          </p:cNvCxnSpPr>
          <p:nvPr/>
        </p:nvCxnSpPr>
        <p:spPr>
          <a:xfrm>
            <a:off x="2778760" y="3653790"/>
            <a:ext cx="1879600" cy="317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2" name="Straight Connector 11"/>
          <p:cNvCxnSpPr/>
          <p:nvPr/>
        </p:nvCxnSpPr>
        <p:spPr>
          <a:xfrm>
            <a:off x="132080" y="3648075"/>
            <a:ext cx="1892300" cy="127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3" name="Straight Connector 12"/>
          <p:cNvCxnSpPr/>
          <p:nvPr/>
        </p:nvCxnSpPr>
        <p:spPr>
          <a:xfrm>
            <a:off x="2392680" y="2132965"/>
            <a:ext cx="3810" cy="1150620"/>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cxnSp>
        <p:nvCxnSpPr>
          <p:cNvPr id="14" name="Straight Connector 13"/>
          <p:cNvCxnSpPr>
            <a:endCxn id="2" idx="2"/>
          </p:cNvCxnSpPr>
          <p:nvPr/>
        </p:nvCxnSpPr>
        <p:spPr>
          <a:xfrm flipH="1">
            <a:off x="2395220" y="4015740"/>
            <a:ext cx="1270" cy="1165225"/>
          </a:xfrm>
          <a:prstGeom prst="line">
            <a:avLst/>
          </a:prstGeom>
          <a:ln>
            <a:solidFill>
              <a:schemeClr val="tx1"/>
            </a:solidFill>
          </a:ln>
        </p:spPr>
        <p:style>
          <a:lnRef idx="2">
            <a:schemeClr val="accent1"/>
          </a:lnRef>
          <a:fillRef idx="0">
            <a:srgbClr val="FFFFFF"/>
          </a:fillRef>
          <a:effectRef idx="0">
            <a:srgbClr val="FFFFFF"/>
          </a:effectRef>
          <a:fontRef idx="minor">
            <a:schemeClr val="tx1"/>
          </a:fontRef>
        </p:style>
      </p:cxnSp>
      <p:sp>
        <p:nvSpPr>
          <p:cNvPr id="15" name="Text Box 14"/>
          <p:cNvSpPr txBox="1"/>
          <p:nvPr/>
        </p:nvSpPr>
        <p:spPr>
          <a:xfrm>
            <a:off x="203200" y="3635375"/>
            <a:ext cx="2141220" cy="1691640"/>
          </a:xfrm>
          <a:prstGeom prst="rect">
            <a:avLst/>
          </a:prstGeom>
          <a:noFill/>
        </p:spPr>
        <p:txBody>
          <a:bodyPr wrap="square" rtlCol="0">
            <a:spAutoFit/>
          </a:bodyPr>
          <a:p>
            <a:pPr marL="0" indent="0">
              <a:buFont typeface="Wingdings" panose="05000000000000000000" charset="0"/>
              <a:buNone/>
            </a:pPr>
            <a:r>
              <a:rPr lang="en-US" b="1"/>
              <a:t>What user Does:</a:t>
            </a:r>
            <a:endParaRPr lang="en-US" b="1"/>
          </a:p>
          <a:p>
            <a:pPr marL="171450" indent="-171450">
              <a:buFont typeface="Wingdings" panose="05000000000000000000" charset="0"/>
              <a:buChar char="§"/>
            </a:pPr>
            <a:endParaRPr lang="en-US" sz="900"/>
          </a:p>
          <a:p>
            <a:pPr marL="171450" indent="-171450">
              <a:buFont typeface="Wingdings" panose="05000000000000000000" charset="0"/>
              <a:buChar char="§"/>
            </a:pPr>
            <a:r>
              <a:rPr lang="en-US" sz="900"/>
              <a:t>Stops at red lights even when there's no traffic, often leading to frustration.</a:t>
            </a:r>
            <a:endParaRPr lang="en-US" sz="900"/>
          </a:p>
          <a:p>
            <a:pPr marL="171450" indent="-171450">
              <a:buFont typeface="Wingdings" panose="05000000000000000000" charset="0"/>
              <a:buChar char="§"/>
            </a:pPr>
            <a:r>
              <a:rPr lang="en-US" sz="900"/>
              <a:t>Speeds up to make it through yellow lights, potentially risking accidents.</a:t>
            </a:r>
            <a:endParaRPr lang="en-US" sz="900"/>
          </a:p>
          <a:p>
            <a:pPr marL="171450" indent="-171450">
              <a:buFont typeface="Wingdings" panose="05000000000000000000" charset="0"/>
              <a:buChar char="§"/>
            </a:pPr>
            <a:r>
              <a:rPr lang="en-US" sz="900"/>
              <a:t>Looks for alternative routes to avoid congested intersections.</a:t>
            </a:r>
            <a:endParaRPr lang="en-US" sz="900"/>
          </a:p>
          <a:p>
            <a:endParaRPr lang="en-US" sz="900"/>
          </a:p>
        </p:txBody>
      </p:sp>
      <p:sp>
        <p:nvSpPr>
          <p:cNvPr id="16" name="Text Box 15"/>
          <p:cNvSpPr txBox="1"/>
          <p:nvPr/>
        </p:nvSpPr>
        <p:spPr>
          <a:xfrm>
            <a:off x="2541905" y="3662680"/>
            <a:ext cx="1981200" cy="1353185"/>
          </a:xfrm>
          <a:prstGeom prst="rect">
            <a:avLst/>
          </a:prstGeom>
          <a:noFill/>
        </p:spPr>
        <p:txBody>
          <a:bodyPr wrap="square" rtlCol="0">
            <a:spAutoFit/>
          </a:bodyPr>
          <a:p>
            <a:pPr algn="ctr"/>
            <a:r>
              <a:rPr lang="en-US" b="1"/>
              <a:t>What User Feels:</a:t>
            </a:r>
            <a:endParaRPr lang="en-US" b="1"/>
          </a:p>
          <a:p>
            <a:endParaRPr lang="en-US" b="1"/>
          </a:p>
          <a:p>
            <a:pPr marL="171450" indent="-171450">
              <a:buFont typeface="Wingdings" panose="05000000000000000000" charset="0"/>
              <a:buChar char="§"/>
            </a:pPr>
            <a:r>
              <a:rPr lang="en-US" sz="900"/>
              <a:t>Frustrated and stressed by long waits at red lights.</a:t>
            </a:r>
            <a:endParaRPr lang="en-US" sz="900"/>
          </a:p>
          <a:p>
            <a:pPr marL="171450" indent="-171450">
              <a:buFont typeface="Wingdings" panose="05000000000000000000" charset="0"/>
              <a:buChar char="§"/>
            </a:pPr>
            <a:r>
              <a:rPr lang="en-US" sz="900"/>
              <a:t>Impatient with the inefficiency of the current system.</a:t>
            </a:r>
            <a:endParaRPr lang="en-US" sz="900"/>
          </a:p>
          <a:p>
            <a:pPr marL="171450" indent="-171450">
              <a:buFont typeface="Wingdings" panose="05000000000000000000" charset="0"/>
              <a:buChar char="§"/>
            </a:pPr>
            <a:r>
              <a:rPr lang="en-US" sz="900"/>
              <a:t>Concerned about the environmental impact.</a:t>
            </a:r>
            <a:endParaRPr lang="en-US" sz="900"/>
          </a:p>
        </p:txBody>
      </p:sp>
      <p:pic>
        <p:nvPicPr>
          <p:cNvPr id="17" name="Picture 16"/>
          <p:cNvPicPr>
            <a:picLocks noChangeAspect="1"/>
          </p:cNvPicPr>
          <p:nvPr/>
        </p:nvPicPr>
        <p:blipFill>
          <a:blip r:embed="rId2"/>
          <a:stretch>
            <a:fillRect/>
          </a:stretch>
        </p:blipFill>
        <p:spPr>
          <a:xfrm>
            <a:off x="4704080" y="2144395"/>
            <a:ext cx="4021455" cy="3031490"/>
          </a:xfrm>
          <a:prstGeom prst="rect">
            <a:avLst/>
          </a:prstGeom>
          <a:ln w="19050">
            <a:solidFill>
              <a:schemeClr val="tx1"/>
            </a:solidFill>
          </a:ln>
        </p:spPr>
      </p:pic>
      <p:sp>
        <p:nvSpPr>
          <p:cNvPr id="20" name="Rectangles 19"/>
          <p:cNvSpPr/>
          <p:nvPr/>
        </p:nvSpPr>
        <p:spPr>
          <a:xfrm>
            <a:off x="11313795" y="2139950"/>
            <a:ext cx="681355" cy="187325"/>
          </a:xfrm>
          <a:prstGeom prst="rect">
            <a:avLst/>
          </a:prstGeom>
          <a:solidFill>
            <a:schemeClr val="bg1"/>
          </a:solidFill>
          <a:effectLst/>
        </p:spPr>
        <p:style>
          <a:lnRef idx="0">
            <a:srgbClr val="FFFFFF"/>
          </a:lnRef>
          <a:fillRef idx="1">
            <a:schemeClr val="accent1"/>
          </a:fillRef>
          <a:effectRef idx="2">
            <a:schemeClr val="accent1"/>
          </a:effectRef>
          <a:fontRef idx="minor">
            <a:schemeClr val="lt1"/>
          </a:fontRef>
        </p:style>
        <p:txBody>
          <a:bodyPr rtlCol="0" anchor="ctr"/>
          <a:p>
            <a:pPr algn="ctr"/>
            <a:endParaRPr lang="en-US"/>
          </a:p>
        </p:txBody>
      </p:sp>
      <p:pic>
        <p:nvPicPr>
          <p:cNvPr id="21" name="Picture 4" descr="IMG_256"/>
          <p:cNvPicPr>
            <a:picLocks noChangeAspect="1"/>
          </p:cNvPicPr>
          <p:nvPr/>
        </p:nvPicPr>
        <p:blipFill>
          <a:blip r:embed="rId3"/>
          <a:stretch>
            <a:fillRect/>
          </a:stretch>
        </p:blipFill>
        <p:spPr>
          <a:xfrm>
            <a:off x="8781415" y="2145665"/>
            <a:ext cx="3246755" cy="3030220"/>
          </a:xfrm>
          <a:prstGeom prst="rect">
            <a:avLst/>
          </a:prstGeom>
          <a:noFill/>
          <a:ln w="19050">
            <a:solidFill>
              <a:schemeClr val="tx1"/>
            </a:solidFill>
          </a:ln>
        </p:spPr>
      </p:pic>
      <p:sp>
        <p:nvSpPr>
          <p:cNvPr id="22" name="Rectangles 21"/>
          <p:cNvSpPr/>
          <p:nvPr/>
        </p:nvSpPr>
        <p:spPr>
          <a:xfrm>
            <a:off x="11341735" y="2160270"/>
            <a:ext cx="673100" cy="170815"/>
          </a:xfrm>
          <a:prstGeom prst="rect">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1871</Words>
  <Application>WPS Slides</Application>
  <PresentationFormat>Widescreen</PresentationFormat>
  <Paragraphs>54</Paragraphs>
  <Slides>1</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vt:i4>
      </vt:variant>
    </vt:vector>
  </HeadingPairs>
  <TitlesOfParts>
    <vt:vector size="12" baseType="lpstr">
      <vt:lpstr>Arial</vt:lpstr>
      <vt:lpstr>SimSun</vt:lpstr>
      <vt:lpstr>Wingdings</vt:lpstr>
      <vt:lpstr>Arial</vt:lpstr>
      <vt:lpstr>Calibri</vt:lpstr>
      <vt:lpstr>Century</vt:lpstr>
      <vt:lpstr>Calibri</vt:lpstr>
      <vt:lpstr>Wingdings</vt:lpstr>
      <vt:lpstr>Microsoft YaHei</vt:lpstr>
      <vt:lpstr>Arial Unicode MS</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Omkar Lonkar</cp:lastModifiedBy>
  <cp:revision>10</cp:revision>
  <dcterms:created xsi:type="dcterms:W3CDTF">2024-09-01T09:06:00Z</dcterms:created>
  <dcterms:modified xsi:type="dcterms:W3CDTF">2025-05-15T11:23:39Z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5487c9-99ed-4cbc-93a8-0e9b1796bde5_Enabled">
    <vt:lpwstr>true</vt:lpwstr>
  </property>
  <property fmtid="{D5CDD505-2E9C-101B-9397-08002B2CF9AE}" pid="3" name="MSIP_Label_e65487c9-99ed-4cbc-93a8-0e9b1796bde5_SetDate">
    <vt:lpwstr>2023-08-22T15:55:58Z</vt:lpwstr>
  </property>
  <property fmtid="{D5CDD505-2E9C-101B-9397-08002B2CF9AE}" pid="4" name="MSIP_Label_e65487c9-99ed-4cbc-93a8-0e9b1796bde5_Method">
    <vt:lpwstr>Standard</vt:lpwstr>
  </property>
  <property fmtid="{D5CDD505-2E9C-101B-9397-08002B2CF9AE}" pid="5" name="MSIP_Label_e65487c9-99ed-4cbc-93a8-0e9b1796bde5_Name">
    <vt:lpwstr>defa4170-0d19-0005-0004-bc88714345d2</vt:lpwstr>
  </property>
  <property fmtid="{D5CDD505-2E9C-101B-9397-08002B2CF9AE}" pid="6" name="MSIP_Label_e65487c9-99ed-4cbc-93a8-0e9b1796bde5_SiteId">
    <vt:lpwstr>03cb5f0c-1f82-4993-9621-36330f6309ec</vt:lpwstr>
  </property>
  <property fmtid="{D5CDD505-2E9C-101B-9397-08002B2CF9AE}" pid="7" name="MSIP_Label_e65487c9-99ed-4cbc-93a8-0e9b1796bde5_ActionId">
    <vt:lpwstr>a9f9e4d2-07a5-4c01-b96a-2377cca3dabb</vt:lpwstr>
  </property>
  <property fmtid="{D5CDD505-2E9C-101B-9397-08002B2CF9AE}" pid="8" name="MSIP_Label_e65487c9-99ed-4cbc-93a8-0e9b1796bde5_ContentBits">
    <vt:lpwstr>0</vt:lpwstr>
  </property>
  <property fmtid="{D5CDD505-2E9C-101B-9397-08002B2CF9AE}" pid="9" name="ICV">
    <vt:lpwstr>6E94B8D047554F638ED97C27843CB3FE_13</vt:lpwstr>
  </property>
  <property fmtid="{D5CDD505-2E9C-101B-9397-08002B2CF9AE}" pid="10" name="KSOProductBuildVer">
    <vt:lpwstr>2057-12.2.0.20796</vt:lpwstr>
  </property>
</Properties>
</file>