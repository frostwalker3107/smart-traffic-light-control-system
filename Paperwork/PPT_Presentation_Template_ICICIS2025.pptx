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129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9C8A63-6E43-4227-A8B0-3EF556CD942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0C13D-650E-4114-B5FF-04D47E0D5ED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6.png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7535" y="1753547"/>
            <a:ext cx="2234163" cy="296647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652" y="5782615"/>
            <a:ext cx="3090930" cy="907786"/>
          </a:xfrm>
          <a:prstGeom prst="rect">
            <a:avLst/>
          </a:prstGeom>
        </p:spPr>
      </p:pic>
      <p:pic>
        <p:nvPicPr>
          <p:cNvPr id="6" name="Image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8277" y="38636"/>
            <a:ext cx="9034207" cy="1995404"/>
          </a:xfrm>
          <a:prstGeom prst="rect">
            <a:avLst/>
          </a:prstGeom>
        </p:spPr>
      </p:pic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3009705" y="2645359"/>
            <a:ext cx="5988675" cy="3759675"/>
          </a:xfrm>
        </p:spPr>
        <p:txBody>
          <a:bodyPr>
            <a:normAutofit/>
          </a:bodyPr>
          <a:lstStyle/>
          <a:p>
            <a:r>
              <a:rPr lang="en-US" sz="2000" b="1" dirty="0" smtClean="0">
                <a:latin typeface="Cambria" panose="02040503050406030204" pitchFamily="18" charset="0"/>
              </a:rPr>
              <a:t>“</a:t>
            </a:r>
            <a:r>
              <a:rPr lang="en-US" altLang="en-GB" sz="2000" b="1" dirty="0" smtClean="0">
                <a:latin typeface="Cambria" panose="02040503050406030204" pitchFamily="18" charset="0"/>
              </a:rPr>
              <a:t>Intelligent Traffic Signal Control</a:t>
            </a:r>
            <a:r>
              <a:rPr lang="en-IN" altLang="en-US" sz="2000" b="1" dirty="0" smtClean="0">
                <a:latin typeface="Cambria" panose="02040503050406030204" pitchFamily="18" charset="0"/>
              </a:rPr>
              <a:t> </a:t>
            </a:r>
            <a:r>
              <a:rPr lang="en-US" altLang="en-GB" sz="2000" b="1" dirty="0" smtClean="0">
                <a:latin typeface="Cambria" panose="02040503050406030204" pitchFamily="18" charset="0"/>
              </a:rPr>
              <a:t>System</a:t>
            </a:r>
            <a:r>
              <a:rPr lang="en-US" sz="2000" b="1" dirty="0" smtClean="0">
                <a:latin typeface="Cambria" panose="02040503050406030204" pitchFamily="18" charset="0"/>
              </a:rPr>
              <a:t>”</a:t>
            </a:r>
            <a:endParaRPr lang="en-US" sz="2000" b="1" dirty="0">
              <a:latin typeface="Cambria" panose="02040503050406030204" pitchFamily="18" charset="0"/>
            </a:endParaRPr>
          </a:p>
          <a:p>
            <a:r>
              <a:rPr lang="en-US" sz="2000" dirty="0">
                <a:latin typeface="Cambria" panose="02040503050406030204" pitchFamily="18" charset="0"/>
              </a:rPr>
              <a:t>(</a:t>
            </a:r>
            <a:r>
              <a:rPr lang="en-US" altLang="en-GB" sz="2000" dirty="0" smtClean="0">
                <a:latin typeface="Cambria" panose="02040503050406030204" pitchFamily="18" charset="0"/>
              </a:rPr>
              <a:t>570</a:t>
            </a:r>
            <a:r>
              <a:rPr lang="en-US" sz="2000" dirty="0" smtClean="0">
                <a:latin typeface="Cambria" panose="02040503050406030204" pitchFamily="18" charset="0"/>
              </a:rPr>
              <a:t>)</a:t>
            </a:r>
            <a:endParaRPr lang="en-US" sz="2000" dirty="0" smtClean="0">
              <a:latin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</a:endParaRPr>
          </a:p>
          <a:p>
            <a:endParaRPr lang="en-US" sz="2000" dirty="0">
              <a:latin typeface="Cambria" panose="02040503050406030204" pitchFamily="18" charset="0"/>
            </a:endParaRPr>
          </a:p>
          <a:p>
            <a:r>
              <a:rPr lang="en-IN" altLang="en-US" sz="2000" b="1" dirty="0">
                <a:latin typeface="Cambria" panose="02040503050406030204" pitchFamily="18" charset="0"/>
              </a:rPr>
              <a:t>Arnav Sohani, Ishan Gaikwad, Omkar Lonkar, Samiksha Roy</a:t>
            </a:r>
            <a:endParaRPr lang="en-IN" altLang="en-US" sz="2000" b="1" dirty="0">
              <a:latin typeface="Cambria" panose="02040503050406030204" pitchFamily="18" charset="0"/>
            </a:endParaRPr>
          </a:p>
          <a:p>
            <a:br>
              <a:rPr lang="en-IN" altLang="en-US" sz="2000" b="1" dirty="0">
                <a:latin typeface="Cambria" panose="02040503050406030204" pitchFamily="18" charset="0"/>
              </a:rPr>
            </a:br>
            <a:r>
              <a:rPr lang="en-IN" altLang="en-US" sz="2000" dirty="0">
                <a:latin typeface="Cambria" panose="02040503050406030204" pitchFamily="18" charset="0"/>
              </a:rPr>
              <a:t>Undergrad</a:t>
            </a:r>
            <a:r>
              <a:rPr lang="en-IN" altLang="en-US" sz="2000" b="1" dirty="0">
                <a:latin typeface="Cambria" panose="02040503050406030204" pitchFamily="18" charset="0"/>
              </a:rPr>
              <a:t> </a:t>
            </a:r>
            <a:r>
              <a:rPr lang="en-IN" altLang="en-US" sz="2000" dirty="0">
                <a:latin typeface="Cambria" panose="02040503050406030204" pitchFamily="18" charset="0"/>
              </a:rPr>
              <a:t>Students</a:t>
            </a:r>
            <a:endParaRPr lang="en-US" sz="2000" dirty="0">
              <a:latin typeface="Cambria" panose="02040503050406030204" pitchFamily="18" charset="0"/>
            </a:endParaRPr>
          </a:p>
          <a:p>
            <a:r>
              <a:rPr lang="en-IN" altLang="en-US" sz="2000" dirty="0" smtClean="0">
                <a:latin typeface="Cambria" panose="02040503050406030204" pitchFamily="18" charset="0"/>
              </a:rPr>
              <a:t>MIT ADT University, Loni Kalbhor, Pune</a:t>
            </a:r>
            <a:r>
              <a:rPr lang="en-US" sz="2000" dirty="0">
                <a:latin typeface="Cambria" panose="02040503050406030204" pitchFamily="18" charset="0"/>
              </a:rPr>
              <a:t>, </a:t>
            </a:r>
            <a:r>
              <a:rPr lang="en-US" sz="2000" dirty="0" smtClean="0">
                <a:latin typeface="Cambria" panose="02040503050406030204" pitchFamily="18" charset="0"/>
              </a:rPr>
              <a:t>India</a:t>
            </a:r>
            <a:endParaRPr lang="en-US" sz="2000" dirty="0">
              <a:latin typeface="Cambria" panose="020405030504060302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7535" y="4864951"/>
            <a:ext cx="2068287" cy="7727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4" y="77273"/>
            <a:ext cx="9028090" cy="6684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063" y="6396767"/>
            <a:ext cx="779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02</a:t>
            </a:r>
            <a:r>
              <a:rPr lang="en-US" sz="1100" b="1" baseline="30000" dirty="0" smtClean="0">
                <a:solidFill>
                  <a:srgbClr val="C00000"/>
                </a:solidFill>
                <a:latin typeface="Montserrat" pitchFamily="2" charset="0"/>
              </a:rPr>
              <a:t>nd</a:t>
            </a:r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 INTERNATIONAL </a:t>
            </a:r>
            <a:r>
              <a:rPr lang="en-US" sz="1100" b="1" dirty="0">
                <a:solidFill>
                  <a:srgbClr val="C00000"/>
                </a:solidFill>
                <a:latin typeface="Montserrat" pitchFamily="2" charset="0"/>
              </a:rPr>
              <a:t>CONFERENCE ON INTEGRATION OF COMPUTATIONAL INTELLIGENT SYSTEMS (ICICIS </a:t>
            </a:r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2025)</a:t>
            </a:r>
            <a:endParaRPr lang="en-IN" sz="1100" b="1" dirty="0">
              <a:solidFill>
                <a:srgbClr val="C00000"/>
              </a:solidFill>
              <a:latin typeface="Montserrat" pitchFamily="2" charset="0"/>
            </a:endParaRP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41" y="251861"/>
            <a:ext cx="1426572" cy="6897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30" y="251861"/>
            <a:ext cx="2068287" cy="772732"/>
          </a:xfrm>
          <a:prstGeom prst="rect">
            <a:avLst/>
          </a:prstGeom>
        </p:spPr>
      </p:pic>
      <p:sp>
        <p:nvSpPr>
          <p:cNvPr id="2" name="Text Box 1"/>
          <p:cNvSpPr txBox="1"/>
          <p:nvPr/>
        </p:nvSpPr>
        <p:spPr>
          <a:xfrm>
            <a:off x="764540" y="1280160"/>
            <a:ext cx="7628255" cy="635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3000" b="1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1. Introduction</a:t>
            </a:r>
            <a:r>
              <a:rPr lang="en-US" sz="3000" dirty="0">
                <a:solidFill>
                  <a:srgbClr val="073763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endParaRPr sz="3000" dirty="0">
              <a:solidFill>
                <a:srgbClr val="073763"/>
              </a:solidFill>
            </a:endParaRPr>
          </a:p>
          <a:p>
            <a:endParaRPr lang="en-GB" altLang="en-US" sz="3000"/>
          </a:p>
        </p:txBody>
      </p:sp>
      <p:sp>
        <p:nvSpPr>
          <p:cNvPr id="3" name="Text Box 2"/>
          <p:cNvSpPr txBox="1"/>
          <p:nvPr/>
        </p:nvSpPr>
        <p:spPr>
          <a:xfrm>
            <a:off x="915670" y="2095500"/>
            <a:ext cx="4961890" cy="34150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GB" dirty="0">
                <a:latin typeface="Calibri" panose="020F0502020204030204" charset="0"/>
                <a:cs typeface="Calibri" panose="020F0502020204030204" charset="0"/>
                <a:sym typeface="+mn-ea"/>
              </a:rPr>
              <a:t>Traffic congestion is a major challenge in urban cities</a:t>
            </a:r>
            <a:r>
              <a:rPr lang="en-US" altLang="en-GB" dirty="0">
                <a:latin typeface="Calibri" panose="020F0502020204030204" charset="0"/>
                <a:cs typeface="Calibri" panose="020F0502020204030204" charset="0"/>
                <a:sym typeface="+mn-ea"/>
              </a:rPr>
              <a:t>.</a:t>
            </a:r>
            <a:endParaRPr lang="en-GB" dirty="0">
              <a:latin typeface="Calibri" panose="020F0502020204030204" charset="0"/>
              <a:cs typeface="Calibri" panose="020F0502020204030204" charset="0"/>
            </a:endParaRPr>
          </a:p>
          <a:p>
            <a:endParaRPr lang="en-GB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US" altLang="en-GB" dirty="0">
                <a:latin typeface="Calibri" panose="020F0502020204030204" charset="0"/>
                <a:cs typeface="Calibri" panose="020F0502020204030204" charset="0"/>
                <a:sym typeface="+mn-ea"/>
              </a:rPr>
              <a:t>A</a:t>
            </a:r>
            <a:r>
              <a:rPr lang="en-GB" dirty="0">
                <a:latin typeface="Calibri" panose="020F0502020204030204" charset="0"/>
                <a:cs typeface="Calibri" panose="020F0502020204030204" charset="0"/>
                <a:sym typeface="+mn-ea"/>
              </a:rPr>
              <a:t>s traditional traffic management systems, which rely on fixed-time traffic signals, fail to adapt to real-time changes in traffic conditions.</a:t>
            </a:r>
            <a:endParaRPr lang="en-GB" dirty="0">
              <a:latin typeface="Calibri" panose="020F0502020204030204" charset="0"/>
              <a:cs typeface="Calibri" panose="020F0502020204030204" charset="0"/>
            </a:endParaRPr>
          </a:p>
          <a:p>
            <a:endParaRPr lang="en-GB" dirty="0">
              <a:latin typeface="Calibri" panose="020F0502020204030204" charset="0"/>
              <a:cs typeface="Calibri" panose="020F0502020204030204" charset="0"/>
            </a:endParaRPr>
          </a:p>
          <a:p>
            <a:r>
              <a:rPr lang="en-GB" dirty="0">
                <a:latin typeface="Calibri" panose="020F0502020204030204" charset="0"/>
                <a:cs typeface="Calibri" panose="020F0502020204030204" charset="0"/>
                <a:sym typeface="+mn-ea"/>
              </a:rPr>
              <a:t>As cities grow and the number of vehicles increases, these systems often result in inefficient traffic flow, leading to longer travel times, increased fuel consumption, and higher levels of pollution.</a:t>
            </a:r>
            <a:endParaRPr lang="en-GB" dirty="0">
              <a:latin typeface="Calibri" panose="020F0502020204030204" charset="0"/>
              <a:cs typeface="Calibri" panose="020F0502020204030204" charset="0"/>
            </a:endParaRPr>
          </a:p>
          <a:p>
            <a:endParaRPr lang="en-GB" alt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9010" y="1719580"/>
            <a:ext cx="2736850" cy="416750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394" y="77273"/>
            <a:ext cx="9028090" cy="668413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06063" y="6396767"/>
            <a:ext cx="779091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02</a:t>
            </a:r>
            <a:r>
              <a:rPr lang="en-US" sz="1100" b="1" baseline="30000" dirty="0" smtClean="0">
                <a:solidFill>
                  <a:srgbClr val="C00000"/>
                </a:solidFill>
                <a:latin typeface="Montserrat" pitchFamily="2" charset="0"/>
              </a:rPr>
              <a:t>nd</a:t>
            </a:r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 INTERNATIONAL </a:t>
            </a:r>
            <a:r>
              <a:rPr lang="en-US" sz="1100" b="1" dirty="0">
                <a:solidFill>
                  <a:srgbClr val="C00000"/>
                </a:solidFill>
                <a:latin typeface="Montserrat" pitchFamily="2" charset="0"/>
              </a:rPr>
              <a:t>CONFERENCE ON INTEGRATION OF COMPUTATIONAL INTELLIGENT SYSTEMS (ICICIS </a:t>
            </a:r>
            <a:r>
              <a:rPr lang="en-US" sz="1100" b="1" dirty="0" smtClean="0">
                <a:solidFill>
                  <a:srgbClr val="C00000"/>
                </a:solidFill>
                <a:latin typeface="Montserrat" pitchFamily="2" charset="0"/>
              </a:rPr>
              <a:t>2025)</a:t>
            </a:r>
            <a:endParaRPr lang="en-IN" sz="1100" b="1" dirty="0">
              <a:solidFill>
                <a:srgbClr val="C00000"/>
              </a:solidFill>
              <a:latin typeface="Montserrat" pitchFamily="2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9370" y="1807210"/>
            <a:ext cx="6525260" cy="36614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 smtClean="0"/>
              <a:t>Thank You!!</a:t>
            </a:r>
            <a:endParaRPr lang="en-US" sz="3200" dirty="0" smtClean="0"/>
          </a:p>
          <a:p>
            <a:pPr algn="ctr"/>
            <a:endParaRPr lang="en-US" sz="3200" dirty="0" smtClean="0"/>
          </a:p>
          <a:p>
            <a:pPr algn="ctr"/>
            <a:r>
              <a:rPr lang="en-IN" altLang="en-US" sz="3200" b="1" dirty="0">
                <a:latin typeface="Cambria" panose="02040503050406030204" pitchFamily="18" charset="0"/>
                <a:sym typeface="+mn-ea"/>
              </a:rPr>
              <a:t>Arnav Sohani, Ishan Gaikwad, Omkar Lonkar, Samiksha Roy</a:t>
            </a:r>
            <a:endParaRPr lang="en-IN" altLang="en-US" sz="3200" b="1" dirty="0">
              <a:latin typeface="Cambria" panose="02040503050406030204" pitchFamily="18" charset="0"/>
            </a:endParaRPr>
          </a:p>
          <a:p>
            <a:pPr algn="ctr"/>
            <a:endParaRPr lang="en-US" sz="3200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Mobile No: +91 </a:t>
            </a:r>
            <a:r>
              <a:rPr lang="en-IN" altLang="en-US" dirty="0" smtClean="0"/>
              <a:t>9373887699</a:t>
            </a:r>
            <a:endParaRPr lang="en-US" dirty="0" smtClean="0"/>
          </a:p>
          <a:p>
            <a:pPr algn="ctr"/>
            <a:endParaRPr lang="en-US" dirty="0" smtClean="0"/>
          </a:p>
          <a:p>
            <a:pPr algn="ctr"/>
            <a:r>
              <a:rPr lang="en-US" dirty="0" smtClean="0"/>
              <a:t>Mail ID: </a:t>
            </a:r>
            <a:r>
              <a:rPr lang="en-IN" altLang="en-US" dirty="0" smtClean="0"/>
              <a:t>lonkaromkar15@gmail</a:t>
            </a:r>
            <a:r>
              <a:rPr lang="en-US" dirty="0" smtClean="0"/>
              <a:t>.com</a:t>
            </a:r>
            <a:endParaRPr lang="en-US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4141" y="251861"/>
            <a:ext cx="1426572" cy="689742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030" y="251861"/>
            <a:ext cx="2068287" cy="772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894</Words>
  <Application>WPS Presentation</Application>
  <PresentationFormat>On-screen Show (4:3)</PresentationFormat>
  <Paragraphs>31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5" baseType="lpstr">
      <vt:lpstr>Arial</vt:lpstr>
      <vt:lpstr>SimSun</vt:lpstr>
      <vt:lpstr>Wingdings</vt:lpstr>
      <vt:lpstr>Cambria</vt:lpstr>
      <vt:lpstr>Montserrat</vt:lpstr>
      <vt:lpstr>Segoe Print</vt:lpstr>
      <vt:lpstr>Microsoft YaHei</vt:lpstr>
      <vt:lpstr>Arial Unicode MS</vt:lpstr>
      <vt:lpstr>Calibri Light</vt:lpstr>
      <vt:lpstr>Calibri</vt:lpstr>
      <vt:lpstr>Times New Roman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Vishal</dc:creator>
  <cp:lastModifiedBy>Omkar Lonkar</cp:lastModifiedBy>
  <cp:revision>8</cp:revision>
  <dcterms:created xsi:type="dcterms:W3CDTF">2025-09-02T07:25:00Z</dcterms:created>
  <dcterms:modified xsi:type="dcterms:W3CDTF">2025-09-07T08:56:39Z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5BFD93D6DE254B57A2F7729FC68A3288_12</vt:lpwstr>
  </property>
  <property fmtid="{D5CDD505-2E9C-101B-9397-08002B2CF9AE}" pid="3" name="KSOProductBuildVer">
    <vt:lpwstr>2057-12.2.0.21936</vt:lpwstr>
  </property>
</Properties>
</file>